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1" r:id="rId5"/>
    <p:sldId id="298" r:id="rId6"/>
    <p:sldId id="299" r:id="rId7"/>
    <p:sldId id="262" r:id="rId8"/>
    <p:sldId id="308" r:id="rId9"/>
    <p:sldId id="261" r:id="rId10"/>
    <p:sldId id="286" r:id="rId11"/>
    <p:sldId id="302" r:id="rId12"/>
    <p:sldId id="301" r:id="rId13"/>
    <p:sldId id="296" r:id="rId14"/>
    <p:sldId id="304" r:id="rId15"/>
    <p:sldId id="309" r:id="rId16"/>
    <p:sldId id="307" r:id="rId17"/>
    <p:sldId id="306" r:id="rId18"/>
    <p:sldId id="292" r:id="rId19"/>
    <p:sldId id="297" r:id="rId20"/>
    <p:sldId id="311" r:id="rId21"/>
    <p:sldId id="273" r:id="rId22"/>
    <p:sldId id="28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NugLFpj7XqdF2ODQQERafmszg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5EC6E2-FDD2-4B72-B4E2-3156FEDF652F}">
  <a:tblStyle styleId="{425EC6E2-FDD2-4B72-B4E2-3156FEDF65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0117C86-B29D-E851-BDFA-4C205BB6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F3ED497F-45E5-EC0D-226F-FD6CCC788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59DE325D-FDD4-323D-C073-5B259F12D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78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EC1D9B3B-96B3-7B36-26DD-19836EE1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9080903-693F-FFA3-0581-AD49EF809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>
            <a:extLst>
              <a:ext uri="{FF2B5EF4-FFF2-40B4-BE49-F238E27FC236}">
                <a16:creationId xmlns:a16="http://schemas.microsoft.com/office/drawing/2014/main" id="{BE55D2D7-43DB-DA4D-14FA-B22B4AAEA0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75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36F56C98-89C5-018F-AB6E-119A546E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107728D-EA67-217A-F767-F1695F685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>
            <a:extLst>
              <a:ext uri="{FF2B5EF4-FFF2-40B4-BE49-F238E27FC236}">
                <a16:creationId xmlns:a16="http://schemas.microsoft.com/office/drawing/2014/main" id="{4949B16B-02E2-A069-077D-2C2613E16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363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15EAC0C3-F34A-78B2-EC4E-0A78278C6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>
            <a:extLst>
              <a:ext uri="{FF2B5EF4-FFF2-40B4-BE49-F238E27FC236}">
                <a16:creationId xmlns:a16="http://schemas.microsoft.com/office/drawing/2014/main" id="{8BF56869-C146-A2C0-0DCB-50A236D34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>
            <a:extLst>
              <a:ext uri="{FF2B5EF4-FFF2-40B4-BE49-F238E27FC236}">
                <a16:creationId xmlns:a16="http://schemas.microsoft.com/office/drawing/2014/main" id="{DE86106D-0725-FCD4-0D0E-88B4BE246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416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DCF0-9C39-C14D-AF3F-3967C3FB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28CB1-5021-359D-3BE9-D7B93CD81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8E0F9-4B81-F5EA-651B-15326C5C3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7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38E1-7817-6D90-0AA2-F4630A81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72F71-88FD-2E11-EDB3-3C1EB4820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78CA5-93F0-FA92-A195-8F32CF0E3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330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59E54-A315-1E35-D946-F419DF55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221A8-A6B1-C252-D6B4-A91C578B3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D54A5-050C-2678-A919-31E4D4C5C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865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5F17-8F98-661B-A133-76800128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66595-9C9E-DF2A-96A4-BAE2BE733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66587-8828-AD85-A751-4E28B38DA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977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ddg.hznu.edu.cn/ddid/download/&#8203;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9194" y="1333085"/>
            <a:ext cx="9133609" cy="498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algn="ctr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LLM-BASED GRAPH NEURAL NETWORK (GNN) AND GRAPH ATTENTION NETWORK (GAT) FRAMEWORK FOR FOOD DRUG INTERACTION PREDICTION</a:t>
            </a:r>
            <a:b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Technology in Information Technology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4097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BE11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IN" sz="2000" b="1" i="0" u="none" strike="noStrike" cap="none" dirty="0">
                <a:solidFill>
                  <a:srgbClr val="BF11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Review Presentation</a:t>
            </a:r>
            <a:endParaRPr sz="2000" b="1" i="0" u="none" strike="noStrike" cap="none" dirty="0">
              <a:solidFill>
                <a:srgbClr val="BF11A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4097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dirty="0"/>
          </a:p>
          <a:p>
            <a:pPr marL="0" marR="14097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M Mohan Bala Sahith (228W1A12A8)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43939" marR="1257300" lvl="0" indent="0" algn="ctr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P Nireekshana Pal (238W5A1215)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26719" lvl="0" indent="0" algn="ctr" rtl="0">
              <a:spcBef>
                <a:spcPts val="1889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73530" marR="1767839" lvl="0" indent="0" algn="ctr" rtl="0">
              <a:spcBef>
                <a:spcPts val="8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 </a:t>
            </a:r>
            <a:r>
              <a:rPr lang="en-IN" sz="2400" b="1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Srisaila</a:t>
            </a: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73530" marR="1767839" lvl="0" indent="0" algn="ctr" rtl="0">
              <a:spcBef>
                <a:spcPts val="8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Assistant Professor (Selection Grade)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9425" y="353058"/>
            <a:ext cx="1581736" cy="718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839" y="91114"/>
            <a:ext cx="1068565" cy="124197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title"/>
          </p:nvPr>
        </p:nvSpPr>
        <p:spPr>
          <a:xfrm>
            <a:off x="3521392" y="313584"/>
            <a:ext cx="514921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IN"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IN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R Siddhartha Engineering College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2067688" y="377072"/>
            <a:ext cx="7330836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AGENDA</a:t>
            </a:r>
            <a:endParaRPr sz="4000"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1103244" y="1005449"/>
            <a:ext cx="10356574" cy="607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and Problem statement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 and Outcomes of the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Review and Summary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Datasets and Requirements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Methodology and Algorithems involved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diagram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 Steps and Execution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 Obtained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 and Future work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  <a:p>
            <a:pPr marL="12700" lvl="0">
              <a:spcBef>
                <a:spcPts val="575"/>
              </a:spcBef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838200" y="-447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715651" y="804839"/>
            <a:ext cx="10515600" cy="477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Food–Drug Interactions (FDIs) can significantly alter drug absorption, metabolism, and overall effectiveness.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FDIs remain undetected due to limited clinical studies and small sample populations.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(wet-lab) detection methods are costly, time-consuming, and not scalable.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growing number of drugs and dietary compounds makes exhaustive interaction testing practically infeasible.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scalable, and attention-based computational framework to accurately predict potential FDIs.</a:t>
            </a:r>
          </a:p>
          <a:p>
            <a:pPr marL="228600" lvl="0" indent="-228600">
              <a:lnSpc>
                <a:spcPct val="150000"/>
              </a:lnSpc>
            </a:pP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4178" y="4836583"/>
            <a:ext cx="5168348" cy="1860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83C1D4-F478-1D2D-339F-4F7F7A0A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221BE765-E5BC-D8EF-939D-E13509DCD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DEC7E3A1-1A31-33DC-FF52-393E41744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1157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Due to the small numbers of participants in clinical studies, many FDIs remain undetected. Similarity-based computational methods struggle worth complex interactions. 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Graph Neural Networks (GNNs) do not priorities pharmacologically relevant neighbors. 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gap consists of a lack of frameworks that combine molecular representation learning with graph structural context in a focused manner. 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Wet-lab FDI detection is time-consuming, costly, and limited in scale. A vast number of possible food-drug combinations makes exhaustive testing impossible. </a:t>
            </a:r>
          </a:p>
          <a:p>
            <a:pPr marL="342900" lvl="0" algn="just">
              <a:lnSpc>
                <a:spcPct val="15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SMILES-based molecular embeddings + Graph Attention Networks (GAT) enables advanced pattern recognition.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78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DAE79502-F191-6A56-3DBB-0EA5A0B0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>
            <a:extLst>
              <a:ext uri="{FF2B5EF4-FFF2-40B4-BE49-F238E27FC236}">
                <a16:creationId xmlns:a16="http://schemas.microsoft.com/office/drawing/2014/main" id="{C3F3D0A8-0556-3234-69D5-3D8E0804BF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70" y="174396"/>
            <a:ext cx="10618177" cy="650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sz="4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4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model to predict food–drug interactions. 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embeddings using SBERT, ChemBERTa, and T5.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a graph of food and drug relationships.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GNN and GAT to learn interaction patterns. 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link prediction for interaction prediction.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 Accuracy, AUROC, and AUPR.</a:t>
            </a:r>
          </a:p>
          <a:p>
            <a:pPr marL="0" lvl="0" indent="0" algn="just">
              <a:lnSpc>
                <a:spcPct val="150000"/>
              </a:lnSpc>
              <a:buSzPts val="2400"/>
              <a:buNone/>
            </a:pPr>
            <a:endParaRPr lang="en-IN"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A5A7A9-7C52-C759-DE89-1DA25B825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30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2CCB2E9-C8DB-630B-297E-0B335FB2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>
            <a:extLst>
              <a:ext uri="{FF2B5EF4-FFF2-40B4-BE49-F238E27FC236}">
                <a16:creationId xmlns:a16="http://schemas.microsoft.com/office/drawing/2014/main" id="{2A09098B-D605-31E3-0ABC-FB424CD80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70" y="174396"/>
            <a:ext cx="10618177" cy="650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sz="4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43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OUTCOMES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model to predict food–drug interactions using GAT.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embeddings using SBERT, ChemBERTa, and T5.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Graph-based model representing food and drug relationships.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in metrics like AUROC, AUPR, and accuracy.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Ability to detect new or unknown interactions.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attention mechanism in graph models.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F1EACB-038C-39DF-A751-6059EA8C9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455E16-13C5-3215-F949-FEE788943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65C52DC-37D7-9120-520D-4A99D0125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07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662444" y="389348"/>
            <a:ext cx="10515600" cy="77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SUMMARY</a:t>
            </a:r>
            <a:br>
              <a:rPr lang="en-IN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3600" b="1" dirty="0"/>
          </a:p>
        </p:txBody>
      </p:sp>
      <p:graphicFrame>
        <p:nvGraphicFramePr>
          <p:cNvPr id="123" name="Google Shape;123;p7"/>
          <p:cNvGraphicFramePr/>
          <p:nvPr>
            <p:extLst>
              <p:ext uri="{D42A27DB-BD31-4B8C-83A1-F6EECF244321}">
                <p14:modId xmlns:p14="http://schemas.microsoft.com/office/powerpoint/2010/main" val="1425653167"/>
              </p:ext>
            </p:extLst>
          </p:nvPr>
        </p:nvGraphicFramePr>
        <p:xfrm>
          <a:off x="0" y="957474"/>
          <a:ext cx="12192000" cy="5992744"/>
        </p:xfrm>
        <a:graphic>
          <a:graphicData uri="http://schemas.openxmlformats.org/drawingml/2006/table">
            <a:tbl>
              <a:tblPr firstRow="1" bandRow="1">
                <a:tableStyleId>{425EC6E2-FDD2-4B72-B4E2-3156FEDF652F}</a:tableStyleId>
              </a:tblPr>
              <a:tblGrid>
                <a:gridCol w="2434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9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4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4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8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585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KELLM: Knowledge Enhanced Label Wise Large Language Model for Safe and Interpretable Drug Recommendation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+ Knowledge Graph + Attention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knowledge-enhanced LLM to recommend drugs with interpretability and safety using label-wise attention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interpretability and recommendation quality</a:t>
                      </a:r>
                      <a:endParaRPr sz="20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cost, depends on quality of knowledge graph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5852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Universal Knowledge Graph Embedding for Predicting Biomedical Pairwise Interactions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Graph Embedding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biomedical entities as vectors and predicts interactions using embedding similarity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performance in predicting unseen interactions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capture complex structural relations, depends on graph completeness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E79E6BB-9909-C3CA-71C3-B1066AA4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>
            <a:extLst>
              <a:ext uri="{FF2B5EF4-FFF2-40B4-BE49-F238E27FC236}">
                <a16:creationId xmlns:a16="http://schemas.microsoft.com/office/drawing/2014/main" id="{92A83AD3-9081-2568-C560-3A9019027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2444" y="389348"/>
            <a:ext cx="10515600" cy="77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SUMMARY</a:t>
            </a:r>
            <a:br>
              <a:rPr lang="en-IN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3600" b="1" dirty="0"/>
          </a:p>
        </p:txBody>
      </p:sp>
      <p:graphicFrame>
        <p:nvGraphicFramePr>
          <p:cNvPr id="123" name="Google Shape;123;p7">
            <a:extLst>
              <a:ext uri="{FF2B5EF4-FFF2-40B4-BE49-F238E27FC236}">
                <a16:creationId xmlns:a16="http://schemas.microsoft.com/office/drawing/2014/main" id="{E0C4B856-25F7-2D57-FBB3-A26445559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044539"/>
              </p:ext>
            </p:extLst>
          </p:nvPr>
        </p:nvGraphicFramePr>
        <p:xfrm>
          <a:off x="0" y="957474"/>
          <a:ext cx="12192000" cy="5992744"/>
        </p:xfrm>
        <a:graphic>
          <a:graphicData uri="http://schemas.openxmlformats.org/drawingml/2006/table">
            <a:tbl>
              <a:tblPr firstRow="1" bandRow="1">
                <a:tableStyleId>{425EC6E2-FDD2-4B72-B4E2-3156FEDF652F}</a:tableStyleId>
              </a:tblPr>
              <a:tblGrid>
                <a:gridCol w="2434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9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4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4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8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Method/Model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5852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AI and Large Language Models in Reducing Medication Related Harm and Adverse Drug Events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AI + LLM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AI models to analyze clinical data and reduce adverse drug events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clinical decision support and safety</a:t>
                      </a:r>
                      <a:endParaRPr sz="20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incorrect outputs, requires validation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5852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DDI-GPT: Explainable Prediction of Drug-Drug Interactions using LLM + Knowledge Graphs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+ Knowledge Graph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DDIs with human-readable explanations using integrated knowledge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explainability and prediction accuracy</a:t>
                      </a:r>
                      <a:endParaRPr sz="20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complexity, requires curated data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77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  <a:t>  			</a:t>
            </a:r>
            <a:b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  <a:t> DATASET AND REQUIREMENTS</a:t>
            </a:r>
            <a:b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838200" y="1020361"/>
            <a:ext cx="10515600" cy="532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 fontAlgn="base">
              <a:lnSpc>
                <a:spcPct val="12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just" fontAlgn="base">
              <a:lnSpc>
                <a:spcPct val="12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Diet-Drug Interaction Database: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algn="just" fontAlgn="base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DDID is a manually curated open access knowledge base dedicated to diet-drug interactions research. It not only provides basic information about drugs, foods, herbs(which can be linked to corresponding databases), also provides the effect of interactions.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algn="just" fontAlgn="base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https://bddg.hznu.edu.cn/ddid/download/​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DrugBank Database:</a:t>
            </a:r>
          </a:p>
          <a:p>
            <a:pPr lvl="1" algn="just" fontAlgn="base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12,000+ drug entries with detailed information on drug names, mechanisms, targets, and structured drug-drug interaction (DDI) annotations.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lnSpc>
                <a:spcPct val="120000"/>
              </a:lnSpc>
            </a:pPr>
            <a:r>
              <a:rPr lang="en-IN" sz="2000" u="sng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https://go.drugbank.com/releases/latest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 fontAlgn="base">
              <a:lnSpc>
                <a:spcPct val="12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just" fontAlgn="base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Scikit-Learn, Matplotlib / Seaborn.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B071-77BF-4FBB-801C-68D2D7FA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65DAC-B921-1432-9A6C-CCCBD6FE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329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 (GNN)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is used for learning from graph-structured data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food and drugs as nodes and interactions as edges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relationships between entities using message passing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information from neighboring nodes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structural patterns in the data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4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4232-FACF-EC54-4C81-2FF81B81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CDD0-E0F1-ECC3-C452-6B5B025A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41F15-63E5-4492-FA3C-9B6AF0D6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329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Attention Network (GAT)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 extends GNN by introducing attention mechanism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different importance to neighboring nodes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more relevant interactions in the graph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multi-head attention for better feature learning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the representation of node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67920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4CAC-4A20-9824-7E89-C2EF2368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DBE8-B34F-E6F9-1BFC-D30FBBB5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A6439-986F-B333-34B3-2AAED8B8F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329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Use of GNN and GAT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captures overall graph structure and relationships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 refines learning by focusing on important connections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improves interaction prediction performance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structural and attention-based learning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biomedical data like food–drug interactions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4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5D66E-B7F2-2FC8-F89B-98B58FC3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65673-0542-9B07-75F0-A2586BA8A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1" y="302133"/>
            <a:ext cx="11660957" cy="6559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B8CD6-9D3D-57C1-93A0-47BDA838CAF7}"/>
              </a:ext>
            </a:extLst>
          </p:cNvPr>
          <p:cNvSpPr txBox="1"/>
          <p:nvPr/>
        </p:nvSpPr>
        <p:spPr>
          <a:xfrm>
            <a:off x="0" y="302133"/>
            <a:ext cx="12192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400" b="1" dirty="0"/>
          </a:p>
        </p:txBody>
      </p:sp>
    </p:spTree>
    <p:extLst>
      <p:ext uri="{BB962C8B-B14F-4D97-AF65-F5344CB8AC3E}">
        <p14:creationId xmlns:p14="http://schemas.microsoft.com/office/powerpoint/2010/main" val="162461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99C9-CB80-22C5-3555-72BB08F6B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D4AB-C07E-D546-0F7C-CC21F0F0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STEPS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450C4C-BF7D-D869-E15A-E79B38FF0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350074"/>
            <a:ext cx="105156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food–drug interaction data from DDID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DrugBank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(cleaning, normalization, duplicate removal)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SMILES strings and textual information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embeddings using SBERT, ChemBERTa, and T5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embeddings into feature vectors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 training, validation, and testing </a:t>
            </a:r>
          </a:p>
        </p:txBody>
      </p:sp>
    </p:spTree>
    <p:extLst>
      <p:ext uri="{BB962C8B-B14F-4D97-AF65-F5344CB8AC3E}">
        <p14:creationId xmlns:p14="http://schemas.microsoft.com/office/powerpoint/2010/main" val="196762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7F6F-4B1C-F6EF-3D9F-6B674A48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AA9F-25A1-C928-005F-DEA65484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STEPS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48B8E4-C213-BEBD-E72B-7DC555E82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437286"/>
            <a:ext cx="10515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Construct interaction graph (nodes: food &amp; drugs, edges: interactions)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8: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 GNN and GAT models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9: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 the model on training data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10: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node representations through graph learning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 link prediction to identify interactions </a:t>
            </a:r>
          </a:p>
          <a:p>
            <a:pPr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12: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Evaluate using AUROC, AUPR, accuracy, precision, and recall </a:t>
            </a:r>
          </a:p>
        </p:txBody>
      </p:sp>
    </p:spTree>
    <p:extLst>
      <p:ext uri="{BB962C8B-B14F-4D97-AF65-F5344CB8AC3E}">
        <p14:creationId xmlns:p14="http://schemas.microsoft.com/office/powerpoint/2010/main" val="2882989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4F5F0-FE1A-5809-D9CD-D6C801035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20A324-9497-3FE9-1E3F-281C9CEA1D65}"/>
              </a:ext>
            </a:extLst>
          </p:cNvPr>
          <p:cNvSpPr txBox="1"/>
          <p:nvPr/>
        </p:nvSpPr>
        <p:spPr>
          <a:xfrm>
            <a:off x="1900469" y="508337"/>
            <a:ext cx="8679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0F470-6BAA-6F79-704F-E4409329BD32}"/>
              </a:ext>
            </a:extLst>
          </p:cNvPr>
          <p:cNvSpPr txBox="1"/>
          <p:nvPr/>
        </p:nvSpPr>
        <p:spPr>
          <a:xfrm>
            <a:off x="1149094" y="5334000"/>
            <a:ext cx="4133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AUROC Comparison of Embedding Models for GNN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08F5F-431B-0939-299A-B0DE1AE4FE64}"/>
              </a:ext>
            </a:extLst>
          </p:cNvPr>
          <p:cNvSpPr txBox="1"/>
          <p:nvPr/>
        </p:nvSpPr>
        <p:spPr>
          <a:xfrm>
            <a:off x="7315433" y="5334000"/>
            <a:ext cx="4133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AUPR Comparison of Embedding Models for GNN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C4754-6832-BECA-3703-D2E59553C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4" y="1647101"/>
            <a:ext cx="4060523" cy="3686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1ECE65-C79B-25EC-6714-42272E366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385" y="1608607"/>
            <a:ext cx="4145312" cy="376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92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A4B3D-23E7-ECB0-09DD-2759A132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BE5B8-ADF2-7A6F-A20A-BDE222D0429D}"/>
              </a:ext>
            </a:extLst>
          </p:cNvPr>
          <p:cNvSpPr txBox="1"/>
          <p:nvPr/>
        </p:nvSpPr>
        <p:spPr>
          <a:xfrm>
            <a:off x="1859830" y="302486"/>
            <a:ext cx="8679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sz="40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7BAF08-713B-4A4B-3655-52B6345F2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566941"/>
              </p:ext>
            </p:extLst>
          </p:nvPr>
        </p:nvGraphicFramePr>
        <p:xfrm>
          <a:off x="7807960" y="2648585"/>
          <a:ext cx="3859753" cy="2225040"/>
        </p:xfrm>
        <a:graphic>
          <a:graphicData uri="http://schemas.openxmlformats.org/drawingml/2006/table">
            <a:tbl>
              <a:tblPr firstRow="1" bandRow="1">
                <a:tableStyleId>{425EC6E2-FDD2-4B72-B4E2-3156FEDF652F}</a:tableStyleId>
              </a:tblPr>
              <a:tblGrid>
                <a:gridCol w="1635027">
                  <a:extLst>
                    <a:ext uri="{9D8B030D-6E8A-4147-A177-3AD203B41FA5}">
                      <a16:colId xmlns:a16="http://schemas.microsoft.com/office/drawing/2014/main" val="2223397187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6597126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2350387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0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0.970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0.956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56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0.965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0.955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53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oBERTa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0.964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0.957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1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0.975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0.970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83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0.972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0.963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4015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AF67ACF-6A5A-FF2A-4F34-018C63C29F71}"/>
              </a:ext>
            </a:extLst>
          </p:cNvPr>
          <p:cNvSpPr txBox="1"/>
          <p:nvPr/>
        </p:nvSpPr>
        <p:spPr>
          <a:xfrm>
            <a:off x="6689836" y="487362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the Models for GNN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B219D-50B7-97D7-4453-DC6E736D2B30}"/>
              </a:ext>
            </a:extLst>
          </p:cNvPr>
          <p:cNvSpPr txBox="1"/>
          <p:nvPr/>
        </p:nvSpPr>
        <p:spPr>
          <a:xfrm>
            <a:off x="888477" y="1462213"/>
            <a:ext cx="60960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 AUROC and AUPR metrics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 BERT, ChemBERTa,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SBERT, T5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models achieved high performance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SBERT achieved the best overall results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T5 also showed competitive performance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consistent across different embedding models </a:t>
            </a:r>
          </a:p>
        </p:txBody>
      </p:sp>
    </p:spTree>
    <p:extLst>
      <p:ext uri="{BB962C8B-B14F-4D97-AF65-F5344CB8AC3E}">
        <p14:creationId xmlns:p14="http://schemas.microsoft.com/office/powerpoint/2010/main" val="1091724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CCB4-3400-8781-8CAE-F675059D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882F9C-D459-1BC3-BBA6-3EBC3896367F}"/>
              </a:ext>
            </a:extLst>
          </p:cNvPr>
          <p:cNvSpPr txBox="1"/>
          <p:nvPr/>
        </p:nvSpPr>
        <p:spPr>
          <a:xfrm>
            <a:off x="1900469" y="508337"/>
            <a:ext cx="8679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EC715-7B09-7959-BF09-DCA929B3FA83}"/>
              </a:ext>
            </a:extLst>
          </p:cNvPr>
          <p:cNvSpPr txBox="1"/>
          <p:nvPr/>
        </p:nvSpPr>
        <p:spPr>
          <a:xfrm>
            <a:off x="1149094" y="5334000"/>
            <a:ext cx="4133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AUROC Comparison of Embedding Models for GAT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5CB2F-8FAE-8E0E-85AB-D4C7F0EF952B}"/>
              </a:ext>
            </a:extLst>
          </p:cNvPr>
          <p:cNvSpPr txBox="1"/>
          <p:nvPr/>
        </p:nvSpPr>
        <p:spPr>
          <a:xfrm>
            <a:off x="7315433" y="5334000"/>
            <a:ext cx="4133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AUPR Comparison of Embedding Models for GAT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113551-B113-340D-5718-42B4EF892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62" y="1906285"/>
            <a:ext cx="5711718" cy="340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031A5BB-4775-8C6C-484F-84CC8D9B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334" y="1906285"/>
            <a:ext cx="5711719" cy="340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168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D877-4E8F-F871-9878-B7EADCDE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8D9DE-BA09-8818-5BD5-12E82525060C}"/>
              </a:ext>
            </a:extLst>
          </p:cNvPr>
          <p:cNvSpPr txBox="1"/>
          <p:nvPr/>
        </p:nvSpPr>
        <p:spPr>
          <a:xfrm>
            <a:off x="1859830" y="302486"/>
            <a:ext cx="8679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6EBAB-9C23-394D-54E6-4528DD1196B8}"/>
              </a:ext>
            </a:extLst>
          </p:cNvPr>
          <p:cNvSpPr txBox="1"/>
          <p:nvPr/>
        </p:nvSpPr>
        <p:spPr>
          <a:xfrm>
            <a:off x="868680" y="1200024"/>
            <a:ext cx="684276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 AUROC and AUPR metrics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 BERT, ChemBERTa, SBERT, T5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models achieved high performance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ChemBERTa achieved the best overall results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SBERT and T5 also showed competitive performance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consistent across different learning rates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5A6DB0C-62F7-2E35-9841-931913A10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878876"/>
              </p:ext>
            </p:extLst>
          </p:nvPr>
        </p:nvGraphicFramePr>
        <p:xfrm>
          <a:off x="7807960" y="2648585"/>
          <a:ext cx="3859753" cy="1854200"/>
        </p:xfrm>
        <a:graphic>
          <a:graphicData uri="http://schemas.openxmlformats.org/drawingml/2006/table">
            <a:tbl>
              <a:tblPr firstRow="1" bandRow="1">
                <a:tableStyleId>{425EC6E2-FDD2-4B72-B4E2-3156FEDF652F}</a:tableStyleId>
              </a:tblPr>
              <a:tblGrid>
                <a:gridCol w="1635027">
                  <a:extLst>
                    <a:ext uri="{9D8B030D-6E8A-4147-A177-3AD203B41FA5}">
                      <a16:colId xmlns:a16="http://schemas.microsoft.com/office/drawing/2014/main" val="2223397187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65971260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2350387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0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0.984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0.985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56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ChemBERTa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0.989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0.988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53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0.988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0.987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1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0.986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0.989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83226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95759B8-846E-0FA3-E4C8-3093112C8B99}"/>
              </a:ext>
            </a:extLst>
          </p:cNvPr>
          <p:cNvSpPr txBox="1"/>
          <p:nvPr/>
        </p:nvSpPr>
        <p:spPr>
          <a:xfrm>
            <a:off x="6689836" y="45385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the Models for GAT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13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BBC05-A775-A0C3-0510-1A2FC248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B10C33-0298-83A5-E5EB-C0CFCABB9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462137"/>
            <a:ext cx="10515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hybrid GNN–GAT model for accurate food–drug interaction prediction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performance in AUROC and AUPR, handling imbalanced data effectively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 improved prediction by focusing on important interactions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integrates both structural and semantic information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integration with real-time healthcare systems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to larger and more diverse biomedical datasets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interpretability using explainable AI techniques </a:t>
            </a:r>
          </a:p>
        </p:txBody>
      </p:sp>
    </p:spTree>
    <p:extLst>
      <p:ext uri="{BB962C8B-B14F-4D97-AF65-F5344CB8AC3E}">
        <p14:creationId xmlns:p14="http://schemas.microsoft.com/office/powerpoint/2010/main" val="1947267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838200" y="1954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				REFERENCES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72911" y="961534"/>
            <a:ext cx="11246178" cy="537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Xu, T., &amp; Li, B. (2025).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Kellm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Knowledge-enhanced label-wise large language model for safe and interpretable drug recommendation. Electronics, 14(1), 154.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Tao, S., Yang, Y., Liu, X., Feng, Y., &amp; Zheng, J. (2025). Learning universal knowledge graph embedding for predicting biomedical pairwise interactions. IEEE Transactions on Computational Biology and Bioinformatics.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Ling Ong, J. C., Michael, C., Ng, N., Elangovan, K., Ting Tan, N. Y., Jin, L., ... &amp; Liu, N. (2024). Generative AI and Large Language Models in Reducing Medication Related Harm and Adverse Drug Events–A Scoping Review.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MedRxiv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2024-09.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Xu, C., Bulusu, K. C., Pan, H., &amp;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Elemento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 (2024).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Ddi-gpt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Explainable prediction of drug-drug interactions using large language models enhanced with knowledge graphs.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BioRxiv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2024-12. </a:t>
            </a:r>
            <a:endParaRPr sz="2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EED4-384F-9477-86CF-89A03FFBA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THANK YOU</a:t>
            </a:r>
            <a:br>
              <a:rPr lang="en-US" sz="8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 sz="8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US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IN" sz="8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7213D-5B01-2239-A938-289105E62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206631" y="5212080"/>
            <a:ext cx="317369" cy="45719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10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1464</Words>
  <Application>Microsoft Office PowerPoint</Application>
  <PresentationFormat>Widescreen</PresentationFormat>
  <Paragraphs>198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Department of Information Technology V R Siddhartha Engineering College</vt:lpstr>
      <vt:lpstr>                      AGENDA</vt:lpstr>
      <vt:lpstr>INTRODUCTION</vt:lpstr>
      <vt:lpstr>PROBLEM STATEMENT</vt:lpstr>
      <vt:lpstr>PowerPoint Presentation</vt:lpstr>
      <vt:lpstr>PowerPoint Presentation</vt:lpstr>
      <vt:lpstr>LITERATURE SUMMARY </vt:lpstr>
      <vt:lpstr>LITERATURE SUMMARY </vt:lpstr>
      <vt:lpstr>       DATASET AND REQUIREMENTS </vt:lpstr>
      <vt:lpstr>ALGORITHMS USED IN PROJECT</vt:lpstr>
      <vt:lpstr>ALGORITHMS USED IN PROJECT</vt:lpstr>
      <vt:lpstr>ALGORITHMS USED IN PROJECT</vt:lpstr>
      <vt:lpstr>PowerPoint Presentation</vt:lpstr>
      <vt:lpstr>IMPLEMENTATION AND EXECUTION STEPS </vt:lpstr>
      <vt:lpstr>IMPLEMENTATION AND EXECUTION STEPS </vt:lpstr>
      <vt:lpstr>PowerPoint Presentation</vt:lpstr>
      <vt:lpstr>PowerPoint Presentation</vt:lpstr>
      <vt:lpstr>PowerPoint Presentation</vt:lpstr>
      <vt:lpstr>PowerPoint Presentation</vt:lpstr>
      <vt:lpstr>CONCLUSION AND FUTURE WORK</vt:lpstr>
      <vt:lpstr>    REFERENCES</vt:lpstr>
      <vt:lpstr>THANK YOU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Ramoju Tejaswini</dc:creator>
  <cp:lastModifiedBy>Sahith Meesala</cp:lastModifiedBy>
  <cp:revision>50</cp:revision>
  <dcterms:created xsi:type="dcterms:W3CDTF">2025-01-06T08:25:17Z</dcterms:created>
  <dcterms:modified xsi:type="dcterms:W3CDTF">2026-04-19T17:37:46Z</dcterms:modified>
</cp:coreProperties>
</file>